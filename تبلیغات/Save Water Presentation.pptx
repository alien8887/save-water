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4" r:id="rId1"/>
  </p:sldMasterIdLst>
  <p:sldIdLst>
    <p:sldId id="256" r:id="rId2"/>
    <p:sldId id="258" r:id="rId3"/>
    <p:sldId id="257" r:id="rId4"/>
    <p:sldId id="259" r:id="rId5"/>
    <p:sldId id="260" r:id="rId6"/>
    <p:sldId id="265"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77" autoAdjust="0"/>
  </p:normalViewPr>
  <p:slideViewPr>
    <p:cSldViewPr snapToGrid="0">
      <p:cViewPr varScale="1">
        <p:scale>
          <a:sx n="83" d="100"/>
          <a:sy n="83" d="100"/>
        </p:scale>
        <p:origin x="686"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smtClean="0"/>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6A9774C7-F06A-4AB2-A23D-193704C19AB4}" type="datetimeFigureOut">
              <a:rPr lang="en-US" smtClean="0"/>
              <a:t>7/26/2023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FD520ED-9F4C-421D-8973-1D646D18FF7D}" type="slidenum">
              <a:rPr lang="en-US" smtClean="0"/>
              <a:t>‹#›</a:t>
            </a:fld>
            <a:endParaRPr lang="en-US"/>
          </a:p>
        </p:txBody>
      </p:sp>
    </p:spTree>
    <p:extLst>
      <p:ext uri="{BB962C8B-B14F-4D97-AF65-F5344CB8AC3E}">
        <p14:creationId xmlns:p14="http://schemas.microsoft.com/office/powerpoint/2010/main" val="41302590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3"/>
          <p:cNvSpPr>
            <a:spLocks noGrp="1"/>
          </p:cNvSpPr>
          <p:nvPr>
            <p:ph type="dt" sz="half" idx="10"/>
          </p:nvPr>
        </p:nvSpPr>
        <p:spPr/>
        <p:txBody>
          <a:bodyPr/>
          <a:lstStyle/>
          <a:p>
            <a:fld id="{6A9774C7-F06A-4AB2-A23D-193704C19AB4}" type="datetimeFigureOut">
              <a:rPr lang="en-US" smtClean="0"/>
              <a:t>7/26/2023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FD520ED-9F4C-421D-8973-1D646D18FF7D}" type="slidenum">
              <a:rPr lang="en-US" smtClean="0"/>
              <a:t>‹#›</a:t>
            </a:fld>
            <a:endParaRPr lang="en-US"/>
          </a:p>
        </p:txBody>
      </p:sp>
    </p:spTree>
    <p:extLst>
      <p:ext uri="{BB962C8B-B14F-4D97-AF65-F5344CB8AC3E}">
        <p14:creationId xmlns:p14="http://schemas.microsoft.com/office/powerpoint/2010/main" val="25162056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A9774C7-F06A-4AB2-A23D-193704C19AB4}" type="datetimeFigureOut">
              <a:rPr lang="en-US" smtClean="0"/>
              <a:t>7/26/2023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FD520ED-9F4C-421D-8973-1D646D18FF7D}" type="slidenum">
              <a:rPr lang="en-US" smtClean="0"/>
              <a:t>‹#›</a:t>
            </a:fld>
            <a:endParaRPr lang="en-US"/>
          </a:p>
        </p:txBody>
      </p:sp>
    </p:spTree>
    <p:extLst>
      <p:ext uri="{BB962C8B-B14F-4D97-AF65-F5344CB8AC3E}">
        <p14:creationId xmlns:p14="http://schemas.microsoft.com/office/powerpoint/2010/main" val="7700420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6A9774C7-F06A-4AB2-A23D-193704C19AB4}" type="datetimeFigureOut">
              <a:rPr lang="en-US" smtClean="0"/>
              <a:t>7/26/2023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FD520ED-9F4C-421D-8973-1D646D18FF7D}" type="slidenum">
              <a:rPr lang="en-US" smtClean="0"/>
              <a:t>‹#›</a:t>
            </a:fld>
            <a:endParaRPr lang="en-US"/>
          </a:p>
        </p:txBody>
      </p:sp>
    </p:spTree>
    <p:extLst>
      <p:ext uri="{BB962C8B-B14F-4D97-AF65-F5344CB8AC3E}">
        <p14:creationId xmlns:p14="http://schemas.microsoft.com/office/powerpoint/2010/main" val="35573632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6A9774C7-F06A-4AB2-A23D-193704C19AB4}" type="datetimeFigureOut">
              <a:rPr lang="en-US" smtClean="0"/>
              <a:t>7/26/2023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FD520ED-9F4C-421D-8973-1D646D18FF7D}" type="slidenum">
              <a:rPr lang="en-US" smtClean="0"/>
              <a:t>‹#›</a:t>
            </a:fld>
            <a:endParaRPr lang="en-US"/>
          </a:p>
        </p:txBody>
      </p:sp>
    </p:spTree>
    <p:extLst>
      <p:ext uri="{BB962C8B-B14F-4D97-AF65-F5344CB8AC3E}">
        <p14:creationId xmlns:p14="http://schemas.microsoft.com/office/powerpoint/2010/main" val="7374174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7" name="Date Placeholder 2"/>
          <p:cNvSpPr>
            <a:spLocks noGrp="1"/>
          </p:cNvSpPr>
          <p:nvPr>
            <p:ph type="dt" sz="half" idx="10"/>
          </p:nvPr>
        </p:nvSpPr>
        <p:spPr/>
        <p:txBody>
          <a:bodyPr/>
          <a:lstStyle/>
          <a:p>
            <a:fld id="{6A9774C7-F06A-4AB2-A23D-193704C19AB4}" type="datetimeFigureOut">
              <a:rPr lang="en-US" smtClean="0"/>
              <a:t>7/26/2023</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BFD520ED-9F4C-421D-8973-1D646D18FF7D}" type="slidenum">
              <a:rPr lang="en-US" smtClean="0"/>
              <a:t>‹#›</a:t>
            </a:fld>
            <a:endParaRPr lang="en-US"/>
          </a:p>
        </p:txBody>
      </p:sp>
    </p:spTree>
    <p:extLst>
      <p:ext uri="{BB962C8B-B14F-4D97-AF65-F5344CB8AC3E}">
        <p14:creationId xmlns:p14="http://schemas.microsoft.com/office/powerpoint/2010/main" val="7754835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6A9774C7-F06A-4AB2-A23D-193704C19AB4}" type="datetimeFigureOut">
              <a:rPr lang="en-US" smtClean="0"/>
              <a:t>7/26/2023</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BFD520ED-9F4C-421D-8973-1D646D18FF7D}" type="slidenum">
              <a:rPr lang="en-US" smtClean="0"/>
              <a:t>‹#›</a:t>
            </a:fld>
            <a:endParaRPr lang="en-US"/>
          </a:p>
        </p:txBody>
      </p:sp>
    </p:spTree>
    <p:extLst>
      <p:ext uri="{BB962C8B-B14F-4D97-AF65-F5344CB8AC3E}">
        <p14:creationId xmlns:p14="http://schemas.microsoft.com/office/powerpoint/2010/main" val="19193248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7" name="Date Placeholder 4"/>
          <p:cNvSpPr>
            <a:spLocks noGrp="1"/>
          </p:cNvSpPr>
          <p:nvPr>
            <p:ph type="dt" sz="half" idx="10"/>
          </p:nvPr>
        </p:nvSpPr>
        <p:spPr/>
        <p:txBody>
          <a:bodyPr/>
          <a:lstStyle/>
          <a:p>
            <a:fld id="{6A9774C7-F06A-4AB2-A23D-193704C19AB4}" type="datetimeFigureOut">
              <a:rPr lang="en-US" smtClean="0"/>
              <a:t>7/26/2023</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BFD520ED-9F4C-421D-8973-1D646D18FF7D}" type="slidenum">
              <a:rPr lang="en-US" smtClean="0"/>
              <a:t>‹#›</a:t>
            </a:fld>
            <a:endParaRPr lang="en-US"/>
          </a:p>
        </p:txBody>
      </p:sp>
    </p:spTree>
    <p:extLst>
      <p:ext uri="{BB962C8B-B14F-4D97-AF65-F5344CB8AC3E}">
        <p14:creationId xmlns:p14="http://schemas.microsoft.com/office/powerpoint/2010/main" val="8015618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6A9774C7-F06A-4AB2-A23D-193704C19AB4}" type="datetimeFigureOut">
              <a:rPr lang="en-US" smtClean="0"/>
              <a:t>7/26/2023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FD520ED-9F4C-421D-8973-1D646D18FF7D}" type="slidenum">
              <a:rPr lang="en-US" smtClean="0"/>
              <a:t>‹#›</a:t>
            </a:fld>
            <a:endParaRPr lang="en-US"/>
          </a:p>
        </p:txBody>
      </p:sp>
    </p:spTree>
    <p:extLst>
      <p:ext uri="{BB962C8B-B14F-4D97-AF65-F5344CB8AC3E}">
        <p14:creationId xmlns:p14="http://schemas.microsoft.com/office/powerpoint/2010/main" val="3085903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6A9774C7-F06A-4AB2-A23D-193704C19AB4}" type="datetimeFigureOut">
              <a:rPr lang="en-US" smtClean="0"/>
              <a:t>7/26/2023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FD520ED-9F4C-421D-8973-1D646D18FF7D}" type="slidenum">
              <a:rPr lang="en-US" smtClean="0"/>
              <a:t>‹#›</a:t>
            </a:fld>
            <a:endParaRPr lang="en-US"/>
          </a:p>
        </p:txBody>
      </p:sp>
    </p:spTree>
    <p:extLst>
      <p:ext uri="{BB962C8B-B14F-4D97-AF65-F5344CB8AC3E}">
        <p14:creationId xmlns:p14="http://schemas.microsoft.com/office/powerpoint/2010/main" val="40555424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6A9774C7-F06A-4AB2-A23D-193704C19AB4}" type="datetimeFigureOut">
              <a:rPr lang="en-US" smtClean="0"/>
              <a:t>7/26/2023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FD520ED-9F4C-421D-8973-1D646D18FF7D}" type="slidenum">
              <a:rPr lang="en-US" smtClean="0"/>
              <a:t>‹#›</a:t>
            </a:fld>
            <a:endParaRPr lang="en-US"/>
          </a:p>
        </p:txBody>
      </p:sp>
    </p:spTree>
    <p:extLst>
      <p:ext uri="{BB962C8B-B14F-4D97-AF65-F5344CB8AC3E}">
        <p14:creationId xmlns:p14="http://schemas.microsoft.com/office/powerpoint/2010/main" val="4333604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smtClean="0"/>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smtClean="0"/>
              <a:t>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6A9774C7-F06A-4AB2-A23D-193704C19AB4}" type="datetimeFigureOut">
              <a:rPr lang="en-US" smtClean="0"/>
              <a:t>7/26/2023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FD520ED-9F4C-421D-8973-1D646D18FF7D}"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9629837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A9774C7-F06A-4AB2-A23D-193704C19AB4}" type="datetimeFigureOut">
              <a:rPr lang="en-US" smtClean="0"/>
              <a:t>7/26/2023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FD520ED-9F4C-421D-8973-1D646D18FF7D}" type="slidenum">
              <a:rPr lang="en-US" smtClean="0"/>
              <a:t>‹#›</a:t>
            </a:fld>
            <a:endParaRPr lang="en-US"/>
          </a:p>
        </p:txBody>
      </p:sp>
    </p:spTree>
    <p:extLst>
      <p:ext uri="{BB962C8B-B14F-4D97-AF65-F5344CB8AC3E}">
        <p14:creationId xmlns:p14="http://schemas.microsoft.com/office/powerpoint/2010/main" val="6236885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6A9774C7-F06A-4AB2-A23D-193704C19AB4}" type="datetimeFigureOut">
              <a:rPr lang="en-US" smtClean="0"/>
              <a:t>7/26/2023</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FD520ED-9F4C-421D-8973-1D646D18FF7D}" type="slidenum">
              <a:rPr lang="en-US" smtClean="0"/>
              <a:t>‹#›</a:t>
            </a:fld>
            <a:endParaRPr lang="en-US"/>
          </a:p>
        </p:txBody>
      </p:sp>
    </p:spTree>
    <p:extLst>
      <p:ext uri="{BB962C8B-B14F-4D97-AF65-F5344CB8AC3E}">
        <p14:creationId xmlns:p14="http://schemas.microsoft.com/office/powerpoint/2010/main" val="23466023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6A9774C7-F06A-4AB2-A23D-193704C19AB4}" type="datetimeFigureOut">
              <a:rPr lang="en-US" smtClean="0"/>
              <a:t>7/26/2023</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FD520ED-9F4C-421D-8973-1D646D18FF7D}" type="slidenum">
              <a:rPr lang="en-US" smtClean="0"/>
              <a:t>‹#›</a:t>
            </a:fld>
            <a:endParaRPr lang="en-US"/>
          </a:p>
        </p:txBody>
      </p:sp>
    </p:spTree>
    <p:extLst>
      <p:ext uri="{BB962C8B-B14F-4D97-AF65-F5344CB8AC3E}">
        <p14:creationId xmlns:p14="http://schemas.microsoft.com/office/powerpoint/2010/main" val="419368299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A9774C7-F06A-4AB2-A23D-193704C19AB4}" type="datetimeFigureOut">
              <a:rPr lang="en-US" smtClean="0"/>
              <a:t>7/26/2023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FD520ED-9F4C-421D-8973-1D646D18FF7D}" type="slidenum">
              <a:rPr lang="en-US" smtClean="0"/>
              <a:t>‹#›</a:t>
            </a:fld>
            <a:endParaRPr lang="en-US"/>
          </a:p>
        </p:txBody>
      </p:sp>
    </p:spTree>
    <p:extLst>
      <p:ext uri="{BB962C8B-B14F-4D97-AF65-F5344CB8AC3E}">
        <p14:creationId xmlns:p14="http://schemas.microsoft.com/office/powerpoint/2010/main" val="27224487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A9774C7-F06A-4AB2-A23D-193704C19AB4}" type="datetimeFigureOut">
              <a:rPr lang="en-US" smtClean="0"/>
              <a:t>7/26/2023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FD520ED-9F4C-421D-8973-1D646D18FF7D}" type="slidenum">
              <a:rPr lang="en-US" smtClean="0"/>
              <a:t>‹#›</a:t>
            </a:fld>
            <a:endParaRPr lang="en-US"/>
          </a:p>
        </p:txBody>
      </p:sp>
    </p:spTree>
    <p:extLst>
      <p:ext uri="{BB962C8B-B14F-4D97-AF65-F5344CB8AC3E}">
        <p14:creationId xmlns:p14="http://schemas.microsoft.com/office/powerpoint/2010/main" val="22183401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6A9774C7-F06A-4AB2-A23D-193704C19AB4}" type="datetimeFigureOut">
              <a:rPr lang="en-US" smtClean="0"/>
              <a:t>7/26/2023</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BFD520ED-9F4C-421D-8973-1D646D18FF7D}" type="slidenum">
              <a:rPr lang="en-US" smtClean="0"/>
              <a:t>‹#›</a:t>
            </a:fld>
            <a:endParaRPr lang="en-US"/>
          </a:p>
        </p:txBody>
      </p:sp>
    </p:spTree>
    <p:extLst>
      <p:ext uri="{BB962C8B-B14F-4D97-AF65-F5344CB8AC3E}">
        <p14:creationId xmlns:p14="http://schemas.microsoft.com/office/powerpoint/2010/main" val="1831971730"/>
      </p:ext>
    </p:extLst>
  </p:cSld>
  <p:clrMap bg1="dk1" tx1="lt1" bg2="dk2" tx2="lt2" accent1="accent1" accent2="accent2" accent3="accent3" accent4="accent4" accent5="accent5" accent6="accent6" hlink="hlink" folHlink="folHlink"/>
  <p:sldLayoutIdLst>
    <p:sldLayoutId id="2147483775" r:id="rId1"/>
    <p:sldLayoutId id="2147483776" r:id="rId2"/>
    <p:sldLayoutId id="2147483777" r:id="rId3"/>
    <p:sldLayoutId id="2147483778" r:id="rId4"/>
    <p:sldLayoutId id="2147483779" r:id="rId5"/>
    <p:sldLayoutId id="2147483780" r:id="rId6"/>
    <p:sldLayoutId id="2147483781" r:id="rId7"/>
    <p:sldLayoutId id="2147483782" r:id="rId8"/>
    <p:sldLayoutId id="2147483783" r:id="rId9"/>
    <p:sldLayoutId id="2147483784" r:id="rId10"/>
    <p:sldLayoutId id="2147483785" r:id="rId11"/>
    <p:sldLayoutId id="2147483786" r:id="rId12"/>
    <p:sldLayoutId id="2147483787" r:id="rId13"/>
    <p:sldLayoutId id="2147483788" r:id="rId14"/>
    <p:sldLayoutId id="2147483789" r:id="rId15"/>
    <p:sldLayoutId id="2147483790" r:id="rId16"/>
    <p:sldLayoutId id="2147483791"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7178722" y="3509963"/>
            <a:ext cx="3803176" cy="3000020"/>
          </a:xfrm>
        </p:spPr>
        <p:txBody>
          <a:bodyPr>
            <a:noAutofit/>
          </a:bodyPr>
          <a:lstStyle/>
          <a:p>
            <a:pPr rtl="1"/>
            <a:r>
              <a:rPr lang="fa-IR" sz="4000" dirty="0" smtClean="0">
                <a:cs typeface="B Yekan" panose="00000400000000000000" pitchFamily="2" charset="-78"/>
              </a:rPr>
              <a:t>بازی نجات آب</a:t>
            </a:r>
          </a:p>
          <a:p>
            <a:pPr rtl="1"/>
            <a:endParaRPr lang="fa-IR" sz="2000" dirty="0" smtClean="0">
              <a:cs typeface="B Yekan" panose="00000400000000000000" pitchFamily="2" charset="-78"/>
            </a:endParaRPr>
          </a:p>
          <a:p>
            <a:pPr rtl="1"/>
            <a:r>
              <a:rPr lang="fa-IR" dirty="0" smtClean="0">
                <a:cs typeface="B Yekan" panose="00000400000000000000" pitchFamily="2" charset="-78"/>
              </a:rPr>
              <a:t>تهیه کننده: علی قاسمی</a:t>
            </a:r>
          </a:p>
          <a:p>
            <a:pPr rtl="1"/>
            <a:r>
              <a:rPr lang="fa-IR" dirty="0" smtClean="0">
                <a:cs typeface="B Yekan" panose="00000400000000000000" pitchFamily="2" charset="-78"/>
              </a:rPr>
              <a:t>استان خراسان جنوبی</a:t>
            </a:r>
          </a:p>
          <a:p>
            <a:pPr rtl="1"/>
            <a:endParaRPr lang="fa-IR" sz="1600" dirty="0" smtClean="0">
              <a:cs typeface="B Yekan" panose="00000400000000000000" pitchFamily="2" charset="-78"/>
            </a:endParaRPr>
          </a:p>
          <a:p>
            <a:pPr rtl="1"/>
            <a:r>
              <a:rPr lang="fa-IR" sz="2800" dirty="0" smtClean="0">
                <a:cs typeface="B Yekan" panose="00000400000000000000" pitchFamily="2" charset="-78"/>
              </a:rPr>
              <a:t>سال تحصیلی 02-1401</a:t>
            </a:r>
            <a:endParaRPr lang="en-US" sz="2800" dirty="0">
              <a:cs typeface="B Yekan" panose="00000400000000000000" pitchFamily="2" charset="-78"/>
            </a:endParaRPr>
          </a:p>
        </p:txBody>
      </p:sp>
      <p:pic>
        <p:nvPicPr>
          <p:cNvPr id="4" name="Content Placeholder 3"/>
          <p:cNvPicPr>
            <a:picLocks noChangeAspect="1"/>
          </p:cNvPicPr>
          <p:nvPr/>
        </p:nvPicPr>
        <p:blipFill rotWithShape="1">
          <a:blip r:embed="rId2">
            <a:extLst>
              <a:ext uri="{28A0092B-C50C-407E-A947-70E740481C1C}">
                <a14:useLocalDpi xmlns:a14="http://schemas.microsoft.com/office/drawing/2010/main" val="0"/>
              </a:ext>
            </a:extLst>
          </a:blip>
          <a:srcRect b="16018"/>
          <a:stretch/>
        </p:blipFill>
        <p:spPr>
          <a:xfrm>
            <a:off x="7793973" y="222950"/>
            <a:ext cx="2572674" cy="2639524"/>
          </a:xfrm>
          <a:prstGeom prst="rect">
            <a:avLst/>
          </a:prstGeom>
        </p:spPr>
      </p:pic>
      <p:sp>
        <p:nvSpPr>
          <p:cNvPr id="5" name="Subtitle 2"/>
          <p:cNvSpPr txBox="1">
            <a:spLocks/>
          </p:cNvSpPr>
          <p:nvPr/>
        </p:nvSpPr>
        <p:spPr>
          <a:xfrm>
            <a:off x="655093" y="2729552"/>
            <a:ext cx="6291617" cy="3780430"/>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rtl="1"/>
            <a:r>
              <a:rPr lang="fa-IR" sz="1800" dirty="0" smtClean="0">
                <a:cs typeface="B Traffic" panose="00000400000000000000" pitchFamily="2" charset="-78"/>
              </a:rPr>
              <a:t>بازی نجات آب از مفهوم هماهنگی بین چشم و دست با استفاده از 9 شیر آب در صفحه استفاده کرده است. در هر لحظه از یک شیر آب که به صورت تصادفی انتخاب می شود یک قطره آب شروع به چکیدن می کند. کاربر به محض مشاهده قطره آب با کلیدهای مخصوصی از صفحه کلید باید مانع رسیدن آب به زمین شود. چنانچه آب به زمین برسد، بازی تمام شده و نتایج روی صفحه دیده می شود.</a:t>
            </a:r>
          </a:p>
          <a:p>
            <a:pPr algn="just" rtl="1"/>
            <a:r>
              <a:rPr lang="fa-IR" sz="1800" dirty="0" smtClean="0">
                <a:cs typeface="B Traffic" panose="00000400000000000000" pitchFamily="2" charset="-78"/>
              </a:rPr>
              <a:t>این بازی حالت دومی نیز دارد که به صورت تصادفی ممکن است به جای قطره آب، بمب هایی از شیر آب خارج و به سمت زمین حرکت کنند. در این صورت کاربر نباید کلیدی را فشار دهد و گرنه برخلاف مرحله قبل از آن امتیاز کسر می شود.</a:t>
            </a:r>
          </a:p>
          <a:p>
            <a:pPr algn="just" rtl="1"/>
            <a:r>
              <a:rPr lang="fa-IR" sz="1800" dirty="0" smtClean="0">
                <a:cs typeface="B Traffic" panose="00000400000000000000" pitchFamily="2" charset="-78"/>
              </a:rPr>
              <a:t>در بازی سیاست های افزایش یا کاهش امتیاز گنجانده شده است .  به طوریکه در صورت زدن هر چه سریع تر کلید صحیح با توجه به یکی  9 شیر آب و مسافت آن از زمین به کاربر امتیاز داده می شود و در غیر اینصورت با زدن کلید اشتباه، امتیاز کسر می شود.</a:t>
            </a:r>
            <a:endParaRPr lang="en-US" sz="1800" dirty="0">
              <a:cs typeface="B Traffic" panose="00000400000000000000" pitchFamily="2" charset="-78"/>
            </a:endParaRPr>
          </a:p>
        </p:txBody>
      </p:sp>
    </p:spTree>
    <p:extLst>
      <p:ext uri="{BB962C8B-B14F-4D97-AF65-F5344CB8AC3E}">
        <p14:creationId xmlns:p14="http://schemas.microsoft.com/office/powerpoint/2010/main" val="181851311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1000"/>
                                        <p:tgtEl>
                                          <p:spTgt spid="5">
                                            <p:txEl>
                                              <p:pRg st="0" end="0"/>
                                            </p:txEl>
                                          </p:spTgt>
                                        </p:tgtEl>
                                      </p:cBhvr>
                                    </p:animEffect>
                                    <p:anim calcmode="lin" valueType="num">
                                      <p:cBhvr>
                                        <p:cTn id="8"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xEl>
                                              <p:pRg st="1" end="1"/>
                                            </p:txEl>
                                          </p:spTgt>
                                        </p:tgtEl>
                                        <p:attrNameLst>
                                          <p:attrName>style.visibility</p:attrName>
                                        </p:attrNameLst>
                                      </p:cBhvr>
                                      <p:to>
                                        <p:strVal val="visible"/>
                                      </p:to>
                                    </p:set>
                                    <p:animEffect transition="in" filter="fade">
                                      <p:cBhvr>
                                        <p:cTn id="14" dur="1000"/>
                                        <p:tgtEl>
                                          <p:spTgt spid="5">
                                            <p:txEl>
                                              <p:pRg st="1" end="1"/>
                                            </p:txEl>
                                          </p:spTgt>
                                        </p:tgtEl>
                                      </p:cBhvr>
                                    </p:animEffect>
                                    <p:anim calcmode="lin" valueType="num">
                                      <p:cBhvr>
                                        <p:cTn id="15"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5">
                                            <p:txEl>
                                              <p:pRg st="2" end="2"/>
                                            </p:txEl>
                                          </p:spTgt>
                                        </p:tgtEl>
                                        <p:attrNameLst>
                                          <p:attrName>style.visibility</p:attrName>
                                        </p:attrNameLst>
                                      </p:cBhvr>
                                      <p:to>
                                        <p:strVal val="visible"/>
                                      </p:to>
                                    </p:set>
                                    <p:animEffect transition="in" filter="fade">
                                      <p:cBhvr>
                                        <p:cTn id="21" dur="1000"/>
                                        <p:tgtEl>
                                          <p:spTgt spid="5">
                                            <p:txEl>
                                              <p:pRg st="2" end="2"/>
                                            </p:txEl>
                                          </p:spTgt>
                                        </p:tgtEl>
                                      </p:cBhvr>
                                    </p:animEffect>
                                    <p:anim calcmode="lin" valueType="num">
                                      <p:cBhvr>
                                        <p:cTn id="22"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lIns="91440" tIns="45720" rIns="91440" bIns="45720" rtlCol="0" anchor="ctr">
            <a:normAutofit/>
          </a:bodyPr>
          <a:lstStyle/>
          <a:p>
            <a:pPr algn="r" rtl="1"/>
            <a:r>
              <a:rPr lang="fa-IR" dirty="0">
                <a:cs typeface="B Yekan" panose="00000400000000000000" pitchFamily="2" charset="-78"/>
              </a:rPr>
              <a:t>فهرست مطالب</a:t>
            </a:r>
            <a:endParaRPr lang="en-US" dirty="0">
              <a:cs typeface="B Yekan" panose="00000400000000000000" pitchFamily="2" charset="-78"/>
            </a:endParaRPr>
          </a:p>
        </p:txBody>
      </p:sp>
      <p:sp>
        <p:nvSpPr>
          <p:cNvPr id="3" name="Content Placeholder 2"/>
          <p:cNvSpPr>
            <a:spLocks noGrp="1"/>
          </p:cNvSpPr>
          <p:nvPr>
            <p:ph idx="1"/>
          </p:nvPr>
        </p:nvSpPr>
        <p:spPr/>
        <p:txBody>
          <a:bodyPr/>
          <a:lstStyle/>
          <a:p>
            <a:pPr algn="r" rtl="1"/>
            <a:r>
              <a:rPr lang="fa-IR" dirty="0" smtClean="0">
                <a:cs typeface="B Yekan" panose="00000400000000000000" pitchFamily="2" charset="-78"/>
              </a:rPr>
              <a:t>نیاز سنجی</a:t>
            </a:r>
          </a:p>
          <a:p>
            <a:pPr algn="r" rtl="1"/>
            <a:r>
              <a:rPr lang="fa-IR" dirty="0" smtClean="0">
                <a:cs typeface="B Yekan" panose="00000400000000000000" pitchFamily="2" charset="-78"/>
              </a:rPr>
              <a:t>طراحی و پیاده سازی</a:t>
            </a:r>
          </a:p>
          <a:p>
            <a:pPr algn="r" rtl="1"/>
            <a:r>
              <a:rPr lang="fa-IR" dirty="0" smtClean="0">
                <a:cs typeface="B Yekan" panose="00000400000000000000" pitchFamily="2" charset="-78"/>
              </a:rPr>
              <a:t>تست و ارتقا</a:t>
            </a:r>
          </a:p>
          <a:p>
            <a:pPr algn="r" rtl="1"/>
            <a:r>
              <a:rPr lang="fa-IR" dirty="0" smtClean="0">
                <a:cs typeface="B Yekan" panose="00000400000000000000" pitchFamily="2" charset="-78"/>
              </a:rPr>
              <a:t>معماری نرم افزار </a:t>
            </a:r>
          </a:p>
          <a:p>
            <a:pPr algn="r" rtl="1"/>
            <a:r>
              <a:rPr lang="fa-IR" dirty="0" smtClean="0">
                <a:cs typeface="B Yekan" panose="00000400000000000000" pitchFamily="2" charset="-78"/>
              </a:rPr>
              <a:t>مقایسه با نمونه های مشابه</a:t>
            </a:r>
          </a:p>
          <a:p>
            <a:pPr algn="r" rtl="1"/>
            <a:r>
              <a:rPr lang="fa-IR" dirty="0" smtClean="0">
                <a:cs typeface="B Yekan" panose="00000400000000000000" pitchFamily="2" charset="-78"/>
              </a:rPr>
              <a:t>نوآوری های پروژه </a:t>
            </a:r>
          </a:p>
          <a:p>
            <a:pPr algn="r" rtl="1"/>
            <a:r>
              <a:rPr lang="fa-IR" dirty="0" smtClean="0">
                <a:cs typeface="B Yekan" panose="00000400000000000000" pitchFamily="2" charset="-78"/>
              </a:rPr>
              <a:t>سناریوی بازی</a:t>
            </a:r>
          </a:p>
          <a:p>
            <a:pPr algn="r" rtl="1"/>
            <a:endParaRPr lang="en-US" dirty="0"/>
          </a:p>
        </p:txBody>
      </p:sp>
    </p:spTree>
    <p:extLst>
      <p:ext uri="{BB962C8B-B14F-4D97-AF65-F5344CB8AC3E}">
        <p14:creationId xmlns:p14="http://schemas.microsoft.com/office/powerpoint/2010/main" val="19699965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rtl="1"/>
            <a:r>
              <a:rPr lang="fa-IR" dirty="0" smtClean="0">
                <a:cs typeface="B Yekan" panose="00000400000000000000" pitchFamily="2" charset="-78"/>
              </a:rPr>
              <a:t>نیاز سنجی</a:t>
            </a:r>
            <a:endParaRPr lang="en-US" dirty="0">
              <a:cs typeface="B Yekan" panose="00000400000000000000" pitchFamily="2" charset="-78"/>
            </a:endParaRPr>
          </a:p>
        </p:txBody>
      </p:sp>
      <p:sp>
        <p:nvSpPr>
          <p:cNvPr id="3" name="Content Placeholder 2"/>
          <p:cNvSpPr>
            <a:spLocks noGrp="1"/>
          </p:cNvSpPr>
          <p:nvPr>
            <p:ph idx="1"/>
          </p:nvPr>
        </p:nvSpPr>
        <p:spPr>
          <a:xfrm>
            <a:off x="838200" y="1569493"/>
            <a:ext cx="10515600" cy="4995080"/>
          </a:xfrm>
        </p:spPr>
        <p:txBody>
          <a:bodyPr>
            <a:normAutofit fontScale="92500" lnSpcReduction="10000"/>
          </a:bodyPr>
          <a:lstStyle/>
          <a:p>
            <a:pPr marL="0" lvl="0" indent="0" algn="just" rtl="1">
              <a:lnSpc>
                <a:spcPct val="150000"/>
              </a:lnSpc>
              <a:buNone/>
            </a:pPr>
            <a:r>
              <a:rPr lang="fa-IR" sz="2400" dirty="0" smtClean="0">
                <a:cs typeface="B Nazanin" panose="00000400000000000000" pitchFamily="2" charset="-78"/>
              </a:rPr>
              <a:t>یادگیری و افزایش مهارت با استفاده از بازی می تواند تاثیرگذاری را به طرز چشم گیری افزایش دهد از این رو سعی شده تا بازی نجات آب بتواند به دلایل زیر افزایش هماهنگی بین حرکت چشم و حرکت دست که آنرا </a:t>
            </a:r>
            <a:r>
              <a:rPr lang="en-US" sz="2400" dirty="0" smtClean="0">
                <a:cs typeface="B Nazanin" panose="00000400000000000000" pitchFamily="2" charset="-78"/>
              </a:rPr>
              <a:t>Eye-Hand Coordination </a:t>
            </a:r>
            <a:r>
              <a:rPr lang="fa-IR" sz="2400" dirty="0" smtClean="0">
                <a:cs typeface="B Nazanin" panose="00000400000000000000" pitchFamily="2" charset="-78"/>
              </a:rPr>
              <a:t>و به اختصار </a:t>
            </a:r>
            <a:r>
              <a:rPr lang="en-US" sz="2400" dirty="0" smtClean="0">
                <a:cs typeface="B Nazanin" panose="00000400000000000000" pitchFamily="2" charset="-78"/>
              </a:rPr>
              <a:t>EHC </a:t>
            </a:r>
            <a:r>
              <a:rPr lang="fa-IR" sz="2400" dirty="0" smtClean="0">
                <a:cs typeface="B Nazanin" panose="00000400000000000000" pitchFamily="2" charset="-78"/>
              </a:rPr>
              <a:t> می نامند را با توجه به مخاطبین خود که عموما کودکان و نوجوانان هستند، اندازه گیری کند</a:t>
            </a:r>
            <a:r>
              <a:rPr lang="fa-IR" sz="2400" dirty="0">
                <a:cs typeface="B Nazanin" panose="00000400000000000000" pitchFamily="2" charset="-78"/>
              </a:rPr>
              <a:t>.</a:t>
            </a:r>
            <a:endParaRPr lang="fa-IR" sz="2400" dirty="0" smtClean="0">
              <a:cs typeface="B Nazanin" panose="00000400000000000000" pitchFamily="2" charset="-78"/>
            </a:endParaRPr>
          </a:p>
          <a:p>
            <a:pPr lvl="0" algn="just" rtl="1">
              <a:lnSpc>
                <a:spcPct val="150000"/>
              </a:lnSpc>
            </a:pPr>
            <a:r>
              <a:rPr lang="fa-IR" sz="2400" dirty="0" smtClean="0">
                <a:cs typeface="B Nazanin" panose="00000400000000000000" pitchFamily="2" charset="-78"/>
              </a:rPr>
              <a:t>کودکان </a:t>
            </a:r>
            <a:r>
              <a:rPr lang="fa-IR" sz="2400" dirty="0">
                <a:cs typeface="B Nazanin" panose="00000400000000000000" pitchFamily="2" charset="-78"/>
              </a:rPr>
              <a:t>دوره تحصیلی ابتدایی برای افزایش رشد طبیعی و موفقیت های تحصیلی</a:t>
            </a:r>
            <a:endParaRPr lang="en-US" sz="2400" dirty="0">
              <a:cs typeface="B Nazanin" panose="00000400000000000000" pitchFamily="2" charset="-78"/>
            </a:endParaRPr>
          </a:p>
          <a:p>
            <a:pPr lvl="0" algn="just" rtl="1">
              <a:lnSpc>
                <a:spcPct val="150000"/>
              </a:lnSpc>
            </a:pPr>
            <a:r>
              <a:rPr lang="fa-IR" sz="2400" dirty="0" smtClean="0">
                <a:cs typeface="B Nazanin" panose="00000400000000000000" pitchFamily="2" charset="-78"/>
              </a:rPr>
              <a:t>ورزشکاران </a:t>
            </a:r>
            <a:r>
              <a:rPr lang="fa-IR" sz="2400" dirty="0">
                <a:cs typeface="B Nazanin" panose="00000400000000000000" pitchFamily="2" charset="-78"/>
              </a:rPr>
              <a:t>به خصوص والیبالیست ها، دروازه بان ها و ... که نیاز به عکس العمل سریع در مقابل مشاهده هدف دارند.</a:t>
            </a:r>
            <a:endParaRPr lang="en-US" sz="2400" dirty="0">
              <a:cs typeface="B Nazanin" panose="00000400000000000000" pitchFamily="2" charset="-78"/>
            </a:endParaRPr>
          </a:p>
          <a:p>
            <a:pPr lvl="0" algn="just" rtl="1">
              <a:lnSpc>
                <a:spcPct val="150000"/>
              </a:lnSpc>
            </a:pPr>
            <a:r>
              <a:rPr lang="fa-IR" sz="2400" dirty="0" smtClean="0">
                <a:cs typeface="B Nazanin" panose="00000400000000000000" pitchFamily="2" charset="-78"/>
              </a:rPr>
              <a:t>پزشکان </a:t>
            </a:r>
            <a:r>
              <a:rPr lang="fa-IR" sz="2400" dirty="0">
                <a:cs typeface="B Nazanin" panose="00000400000000000000" pitchFamily="2" charset="-78"/>
              </a:rPr>
              <a:t>به خصوص جراحان برای افزایش تمرکز و دقت</a:t>
            </a:r>
            <a:endParaRPr lang="en-US" sz="2400" dirty="0">
              <a:cs typeface="B Nazanin" panose="00000400000000000000" pitchFamily="2" charset="-78"/>
            </a:endParaRPr>
          </a:p>
          <a:p>
            <a:pPr algn="just" rtl="1">
              <a:lnSpc>
                <a:spcPct val="150000"/>
              </a:lnSpc>
            </a:pPr>
            <a:r>
              <a:rPr lang="fa-IR" sz="2400" dirty="0" smtClean="0">
                <a:cs typeface="B Nazanin" panose="00000400000000000000" pitchFamily="2" charset="-78"/>
              </a:rPr>
              <a:t>میانسالان </a:t>
            </a:r>
            <a:r>
              <a:rPr lang="fa-IR" sz="2400" dirty="0">
                <a:cs typeface="B Nazanin" panose="00000400000000000000" pitchFamily="2" charset="-78"/>
              </a:rPr>
              <a:t>و افراد کهنسال برای رسیدن به هدف سالمندی سالم مانند جلوگیری از پیری چشم</a:t>
            </a:r>
            <a:endParaRPr lang="en-US" sz="2400" dirty="0">
              <a:cs typeface="B Nazanin" panose="00000400000000000000" pitchFamily="2" charset="-78"/>
            </a:endParaRPr>
          </a:p>
          <a:p>
            <a:pPr marL="0" indent="0" algn="just" rtl="1">
              <a:lnSpc>
                <a:spcPct val="150000"/>
              </a:lnSpc>
              <a:buNone/>
            </a:pPr>
            <a:r>
              <a:rPr lang="fa-IR" sz="2400" dirty="0" smtClean="0">
                <a:cs typeface="B Nazanin" panose="00000400000000000000" pitchFamily="2" charset="-78"/>
              </a:rPr>
              <a:t>به </a:t>
            </a:r>
            <a:r>
              <a:rPr lang="fa-IR" sz="2400" dirty="0">
                <a:cs typeface="B Nazanin" panose="00000400000000000000" pitchFamily="2" charset="-78"/>
              </a:rPr>
              <a:t>طور کلی با توجه به اهداف گفته شده این بازی برای هر دوره زندگی لازم می باشد.</a:t>
            </a:r>
            <a:endParaRPr lang="en-US" sz="2400" dirty="0">
              <a:cs typeface="B Nazanin" panose="00000400000000000000" pitchFamily="2" charset="-78"/>
            </a:endParaRPr>
          </a:p>
        </p:txBody>
      </p:sp>
    </p:spTree>
    <p:extLst>
      <p:ext uri="{BB962C8B-B14F-4D97-AF65-F5344CB8AC3E}">
        <p14:creationId xmlns:p14="http://schemas.microsoft.com/office/powerpoint/2010/main" val="76136059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down)">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down)">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rtl="1"/>
            <a:r>
              <a:rPr lang="fa-IR" dirty="0" smtClean="0">
                <a:cs typeface="B Yekan" panose="00000400000000000000" pitchFamily="2" charset="-78"/>
              </a:rPr>
              <a:t>طراحی و پیاده سازی</a:t>
            </a:r>
            <a:endParaRPr lang="en-US" dirty="0">
              <a:cs typeface="B Yekan" panose="00000400000000000000" pitchFamily="2" charset="-78"/>
            </a:endParaRPr>
          </a:p>
        </p:txBody>
      </p:sp>
      <p:sp>
        <p:nvSpPr>
          <p:cNvPr id="5" name="Content Placeholder 4"/>
          <p:cNvSpPr>
            <a:spLocks noGrp="1"/>
          </p:cNvSpPr>
          <p:nvPr>
            <p:ph idx="1"/>
          </p:nvPr>
        </p:nvSpPr>
        <p:spPr/>
        <p:txBody>
          <a:bodyPr vert="horz" lIns="91440" tIns="45720" rIns="91440" bIns="45720" rtlCol="0">
            <a:normAutofit/>
          </a:bodyPr>
          <a:lstStyle/>
          <a:p>
            <a:pPr marL="0" indent="0" algn="just" rtl="1">
              <a:lnSpc>
                <a:spcPct val="150000"/>
              </a:lnSpc>
              <a:buNone/>
            </a:pPr>
            <a:r>
              <a:rPr lang="fa-IR" sz="2400" dirty="0" smtClean="0">
                <a:cs typeface="B Nazanin" panose="00000400000000000000" pitchFamily="2" charset="-78"/>
              </a:rPr>
              <a:t>در </a:t>
            </a:r>
            <a:r>
              <a:rPr lang="fa-IR" sz="2400" dirty="0">
                <a:cs typeface="B Nazanin" panose="00000400000000000000" pitchFamily="2" charset="-78"/>
              </a:rPr>
              <a:t>بازی نجات آب بخش های تنظیمات اولیه بازی، چکیدن آب از 9 شیر و امتیاز به واکنش های کاربران، ذخیره اطلاعات کاربر در فایل متنی، راهنما، درباره ما و انتخاب حالت بازی طبق سناریویی که در انتهای این فایل به آن پرداخته می شود درکنار هم قرار گرفته اند.</a:t>
            </a:r>
          </a:p>
          <a:p>
            <a:pPr marL="0" indent="0" algn="just" rtl="1">
              <a:lnSpc>
                <a:spcPct val="150000"/>
              </a:lnSpc>
              <a:buNone/>
            </a:pPr>
            <a:r>
              <a:rPr lang="fa-IR" sz="2400" dirty="0">
                <a:cs typeface="B Nazanin" panose="00000400000000000000" pitchFamily="2" charset="-78"/>
              </a:rPr>
              <a:t>پیاده سازی با زبان پایتون و در محیط </a:t>
            </a:r>
            <a:r>
              <a:rPr lang="en-US" sz="2400" dirty="0" err="1" smtClean="0">
                <a:cs typeface="B Nazanin" panose="00000400000000000000" pitchFamily="2" charset="-78"/>
              </a:rPr>
              <a:t>PyCharm</a:t>
            </a:r>
            <a:r>
              <a:rPr lang="fa-IR" sz="2400" dirty="0" smtClean="0">
                <a:cs typeface="B Nazanin" panose="00000400000000000000" pitchFamily="2" charset="-78"/>
              </a:rPr>
              <a:t> </a:t>
            </a:r>
            <a:r>
              <a:rPr lang="fa-IR" sz="2400" dirty="0">
                <a:cs typeface="B Nazanin" panose="00000400000000000000" pitchFamily="2" charset="-78"/>
              </a:rPr>
              <a:t>انجام شده است. در هر بخش از بازی سعی شده تا کتابخانه مربوطه مانند </a:t>
            </a:r>
            <a:r>
              <a:rPr lang="en-US" sz="2400" dirty="0" err="1">
                <a:cs typeface="B Nazanin" panose="00000400000000000000" pitchFamily="2" charset="-78"/>
              </a:rPr>
              <a:t>pygame</a:t>
            </a:r>
            <a:r>
              <a:rPr lang="fa-IR" sz="2400" dirty="0">
                <a:cs typeface="B Nazanin" panose="00000400000000000000" pitchFamily="2" charset="-78"/>
              </a:rPr>
              <a:t>، </a:t>
            </a:r>
            <a:r>
              <a:rPr lang="en-US" sz="2400" dirty="0">
                <a:cs typeface="B Nazanin" panose="00000400000000000000" pitchFamily="2" charset="-78"/>
              </a:rPr>
              <a:t>Turtle</a:t>
            </a:r>
            <a:r>
              <a:rPr lang="fa-IR" sz="2400" dirty="0">
                <a:cs typeface="B Nazanin" panose="00000400000000000000" pitchFamily="2" charset="-78"/>
              </a:rPr>
              <a:t> و ... استفاده شوند.</a:t>
            </a:r>
            <a:endParaRPr lang="en-US" sz="2400" dirty="0">
              <a:cs typeface="B Nazanin" panose="00000400000000000000" pitchFamily="2" charset="-78"/>
            </a:endParaRPr>
          </a:p>
        </p:txBody>
      </p:sp>
    </p:spTree>
    <p:extLst>
      <p:ext uri="{BB962C8B-B14F-4D97-AF65-F5344CB8AC3E}">
        <p14:creationId xmlns:p14="http://schemas.microsoft.com/office/powerpoint/2010/main" val="2057068708"/>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randombar(horizontal)">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randombar(horizontal)">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rtl="1"/>
            <a:r>
              <a:rPr lang="fa-IR" dirty="0" smtClean="0">
                <a:cs typeface="B Yekan" panose="00000400000000000000" pitchFamily="2" charset="-78"/>
              </a:rPr>
              <a:t>تست و ارتقا</a:t>
            </a:r>
            <a:endParaRPr lang="en-US" dirty="0">
              <a:cs typeface="B Yekan" panose="00000400000000000000" pitchFamily="2" charset="-78"/>
            </a:endParaRPr>
          </a:p>
        </p:txBody>
      </p:sp>
      <p:sp>
        <p:nvSpPr>
          <p:cNvPr id="3" name="Content Placeholder 2"/>
          <p:cNvSpPr>
            <a:spLocks noGrp="1"/>
          </p:cNvSpPr>
          <p:nvPr>
            <p:ph idx="1"/>
          </p:nvPr>
        </p:nvSpPr>
        <p:spPr/>
        <p:txBody>
          <a:bodyPr vert="horz" lIns="91440" tIns="45720" rIns="91440" bIns="45720" rtlCol="0">
            <a:normAutofit/>
          </a:bodyPr>
          <a:lstStyle/>
          <a:p>
            <a:pPr marL="0" indent="0" algn="just" rtl="1">
              <a:lnSpc>
                <a:spcPct val="150000"/>
              </a:lnSpc>
              <a:buNone/>
            </a:pPr>
            <a:r>
              <a:rPr lang="fa-IR" sz="2400" dirty="0">
                <a:cs typeface="B Nazanin" panose="00000400000000000000" pitchFamily="2" charset="-78"/>
              </a:rPr>
              <a:t>بازی بعد از پیاده سازی اولیه در اختیار کاربران هدف قرار گرفته و سناریو بازی  را برای آنان شرح داده، سپس آنها بازی را انجام می دهند و نظرات خود را ارایه می کنند. از این نظرات برای رفع خطاها و بهبود بازی استفاده می شود. همچمنین سعی شده در بازی نکات مربوط به طراحی و تجربه کاربری رعایت شود تا میزان ارتباط کاربر با بازی در عین سادگی افزایش یابد</a:t>
            </a:r>
            <a:r>
              <a:rPr lang="fa-IR" sz="2400" dirty="0" smtClean="0">
                <a:cs typeface="B Nazanin" panose="00000400000000000000" pitchFamily="2" charset="-78"/>
              </a:rPr>
              <a:t>.</a:t>
            </a:r>
            <a:endParaRPr lang="fa-IR" sz="2400" dirty="0">
              <a:cs typeface="B Nazanin" panose="00000400000000000000" pitchFamily="2" charset="-78"/>
            </a:endParaRPr>
          </a:p>
          <a:p>
            <a:pPr marL="0" indent="0" algn="just" rtl="1">
              <a:lnSpc>
                <a:spcPct val="150000"/>
              </a:lnSpc>
              <a:buNone/>
            </a:pPr>
            <a:r>
              <a:rPr lang="fa-IR" sz="2400" dirty="0" smtClean="0">
                <a:cs typeface="B Nazanin" panose="00000400000000000000" pitchFamily="2" charset="-78"/>
              </a:rPr>
              <a:t>در ادامه ارتقای بازی میتوان چالش های متفاوتی برای هیجان انگیزی بیشتر و چالشی کردن بازی و افزودن نکات گرافیکی بیشتر اشاره کرد.</a:t>
            </a:r>
          </a:p>
        </p:txBody>
      </p:sp>
    </p:spTree>
    <p:extLst>
      <p:ext uri="{BB962C8B-B14F-4D97-AF65-F5344CB8AC3E}">
        <p14:creationId xmlns:p14="http://schemas.microsoft.com/office/powerpoint/2010/main" val="29575996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a:r>
              <a:rPr lang="fa-IR" dirty="0" smtClean="0">
                <a:cs typeface="B Yekan" panose="00000400000000000000" pitchFamily="2" charset="-78"/>
              </a:rPr>
              <a:t>معماری نرم افزار</a:t>
            </a:r>
            <a:endParaRPr lang="en-US" dirty="0">
              <a:cs typeface="B Yekan" panose="00000400000000000000" pitchFamily="2" charset="-78"/>
            </a:endParaRPr>
          </a:p>
        </p:txBody>
      </p:sp>
      <p:sp>
        <p:nvSpPr>
          <p:cNvPr id="3" name="Content Placeholder 2"/>
          <p:cNvSpPr>
            <a:spLocks noGrp="1"/>
          </p:cNvSpPr>
          <p:nvPr>
            <p:ph idx="1"/>
          </p:nvPr>
        </p:nvSpPr>
        <p:spPr/>
        <p:txBody>
          <a:bodyPr>
            <a:normAutofit/>
          </a:bodyPr>
          <a:lstStyle/>
          <a:p>
            <a:pPr algn="just" rtl="1">
              <a:lnSpc>
                <a:spcPct val="150000"/>
              </a:lnSpc>
            </a:pPr>
            <a:r>
              <a:rPr lang="fa-IR" b="1" dirty="0">
                <a:cs typeface="B Nazanin" panose="00000400000000000000" pitchFamily="2" charset="-78"/>
              </a:rPr>
              <a:t>جزئیات پیاده‌سازی: </a:t>
            </a:r>
            <a:r>
              <a:rPr lang="fa-IR" dirty="0">
                <a:cs typeface="B Nazanin" panose="00000400000000000000" pitchFamily="2" charset="-78"/>
              </a:rPr>
              <a:t>فایل لایه باز پایتون، خروجی اجرایی پروژه، پوشه های صدا و تصویر، فایل های راهنما</a:t>
            </a:r>
          </a:p>
          <a:p>
            <a:pPr algn="just" rtl="1">
              <a:lnSpc>
                <a:spcPct val="150000"/>
              </a:lnSpc>
            </a:pPr>
            <a:r>
              <a:rPr lang="fa-IR" b="1" dirty="0">
                <a:cs typeface="B Nazanin" panose="00000400000000000000" pitchFamily="2" charset="-78"/>
              </a:rPr>
              <a:t>تصمیمات طراحی پیاده‌سازی: </a:t>
            </a:r>
            <a:r>
              <a:rPr lang="fa-IR" dirty="0">
                <a:cs typeface="B Nazanin" panose="00000400000000000000" pitchFamily="2" charset="-78"/>
              </a:rPr>
              <a:t>پایگاه داده از نوع فایل متنی، پردازش روی سیستم کاربر</a:t>
            </a:r>
          </a:p>
          <a:p>
            <a:pPr algn="just" rtl="1">
              <a:lnSpc>
                <a:spcPct val="150000"/>
              </a:lnSpc>
            </a:pPr>
            <a:r>
              <a:rPr lang="fa-IR" b="1" dirty="0">
                <a:cs typeface="B Nazanin" panose="00000400000000000000" pitchFamily="2" charset="-78"/>
              </a:rPr>
              <a:t>فناوری‌های مورد استفاده: </a:t>
            </a:r>
            <a:r>
              <a:rPr lang="fa-IR" dirty="0">
                <a:cs typeface="B Nazanin" panose="00000400000000000000" pitchFamily="2" charset="-78"/>
              </a:rPr>
              <a:t>زبان </a:t>
            </a:r>
            <a:r>
              <a:rPr lang="en-US" dirty="0">
                <a:cs typeface="B Nazanin" panose="00000400000000000000" pitchFamily="2" charset="-78"/>
              </a:rPr>
              <a:t>Python</a:t>
            </a:r>
            <a:endParaRPr lang="fa-IR" dirty="0">
              <a:cs typeface="B Nazanin" panose="00000400000000000000" pitchFamily="2" charset="-78"/>
            </a:endParaRPr>
          </a:p>
          <a:p>
            <a:pPr algn="just" rtl="1">
              <a:lnSpc>
                <a:spcPct val="150000"/>
              </a:lnSpc>
            </a:pPr>
            <a:r>
              <a:rPr lang="fa-IR" b="1" dirty="0">
                <a:cs typeface="B Nazanin" panose="00000400000000000000" pitchFamily="2" charset="-78"/>
              </a:rPr>
              <a:t>تصمیمات طراحی سیستم: </a:t>
            </a:r>
            <a:r>
              <a:rPr lang="fa-IR" dirty="0">
                <a:cs typeface="B Nazanin" panose="00000400000000000000" pitchFamily="2" charset="-78"/>
              </a:rPr>
              <a:t>سیستم نرم افزاری یکپارچه</a:t>
            </a:r>
          </a:p>
          <a:p>
            <a:pPr algn="just" rtl="1">
              <a:lnSpc>
                <a:spcPct val="150000"/>
              </a:lnSpc>
            </a:pPr>
            <a:r>
              <a:rPr lang="fa-IR" b="1" dirty="0">
                <a:cs typeface="B Nazanin" panose="00000400000000000000" pitchFamily="2" charset="-78"/>
              </a:rPr>
              <a:t>تصمیمات زیرساختی: </a:t>
            </a:r>
            <a:r>
              <a:rPr lang="fa-IR" dirty="0">
                <a:cs typeface="B Nazanin" panose="00000400000000000000" pitchFamily="2" charset="-78"/>
              </a:rPr>
              <a:t>اجرا در محل سیستم میزبان</a:t>
            </a:r>
            <a:endParaRPr lang="en-US" dirty="0">
              <a:cs typeface="B Nazanin" panose="00000400000000000000" pitchFamily="2" charset="-78"/>
            </a:endParaRPr>
          </a:p>
          <a:p>
            <a:endParaRPr lang="en-US" dirty="0"/>
          </a:p>
        </p:txBody>
      </p:sp>
    </p:spTree>
    <p:extLst>
      <p:ext uri="{BB962C8B-B14F-4D97-AF65-F5344CB8AC3E}">
        <p14:creationId xmlns:p14="http://schemas.microsoft.com/office/powerpoint/2010/main" val="895367172"/>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3">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 calcmode="lin" valueType="num">
                                      <p:cBhvr>
                                        <p:cTn id="14"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 calcmode="lin" valueType="num">
                                      <p:cBhvr>
                                        <p:cTn id="21"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2" dur="500" fill="hold"/>
                                        <p:tgtEl>
                                          <p:spTgt spid="3">
                                            <p:txEl>
                                              <p:pRg st="2" end="2"/>
                                            </p:txEl>
                                          </p:spTgt>
                                        </p:tgtEl>
                                        <p:attrNameLst>
                                          <p:attrName>ppt_h</p:attrName>
                                        </p:attrNameLst>
                                      </p:cBhvr>
                                      <p:tavLst>
                                        <p:tav tm="0">
                                          <p:val>
                                            <p:fltVal val="0"/>
                                          </p:val>
                                        </p:tav>
                                        <p:tav tm="100000">
                                          <p:val>
                                            <p:strVal val="#ppt_h"/>
                                          </p:val>
                                        </p:tav>
                                      </p:tavLst>
                                    </p:anim>
                                    <p:animEffect transition="in" filter="fade">
                                      <p:cBhvr>
                                        <p:cTn id="23" dur="500"/>
                                        <p:tgtEl>
                                          <p:spTgt spid="3">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 calcmode="lin" valueType="num">
                                      <p:cBhvr>
                                        <p:cTn id="28" dur="500" fill="hold"/>
                                        <p:tgtEl>
                                          <p:spTgt spid="3">
                                            <p:txEl>
                                              <p:pRg st="3" end="3"/>
                                            </p:txEl>
                                          </p:spTgt>
                                        </p:tgtEl>
                                        <p:attrNameLst>
                                          <p:attrName>ppt_w</p:attrName>
                                        </p:attrNameLst>
                                      </p:cBhvr>
                                      <p:tavLst>
                                        <p:tav tm="0">
                                          <p:val>
                                            <p:fltVal val="0"/>
                                          </p:val>
                                        </p:tav>
                                        <p:tav tm="100000">
                                          <p:val>
                                            <p:strVal val="#ppt_w"/>
                                          </p:val>
                                        </p:tav>
                                      </p:tavLst>
                                    </p:anim>
                                    <p:anim calcmode="lin" valueType="num">
                                      <p:cBhvr>
                                        <p:cTn id="29" dur="500" fill="hold"/>
                                        <p:tgtEl>
                                          <p:spTgt spid="3">
                                            <p:txEl>
                                              <p:pRg st="3" end="3"/>
                                            </p:txEl>
                                          </p:spTgt>
                                        </p:tgtEl>
                                        <p:attrNameLst>
                                          <p:attrName>ppt_h</p:attrName>
                                        </p:attrNameLst>
                                      </p:cBhvr>
                                      <p:tavLst>
                                        <p:tav tm="0">
                                          <p:val>
                                            <p:fltVal val="0"/>
                                          </p:val>
                                        </p:tav>
                                        <p:tav tm="100000">
                                          <p:val>
                                            <p:strVal val="#ppt_h"/>
                                          </p:val>
                                        </p:tav>
                                      </p:tavLst>
                                    </p:anim>
                                    <p:animEffect transition="in" filter="fade">
                                      <p:cBhvr>
                                        <p:cTn id="30" dur="500"/>
                                        <p:tgtEl>
                                          <p:spTgt spid="3">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 calcmode="lin" valueType="num">
                                      <p:cBhvr>
                                        <p:cTn id="35" dur="500" fill="hold"/>
                                        <p:tgtEl>
                                          <p:spTgt spid="3">
                                            <p:txEl>
                                              <p:pRg st="4" end="4"/>
                                            </p:txEl>
                                          </p:spTgt>
                                        </p:tgtEl>
                                        <p:attrNameLst>
                                          <p:attrName>ppt_w</p:attrName>
                                        </p:attrNameLst>
                                      </p:cBhvr>
                                      <p:tavLst>
                                        <p:tav tm="0">
                                          <p:val>
                                            <p:fltVal val="0"/>
                                          </p:val>
                                        </p:tav>
                                        <p:tav tm="100000">
                                          <p:val>
                                            <p:strVal val="#ppt_w"/>
                                          </p:val>
                                        </p:tav>
                                      </p:tavLst>
                                    </p:anim>
                                    <p:anim calcmode="lin" valueType="num">
                                      <p:cBhvr>
                                        <p:cTn id="36" dur="500" fill="hold"/>
                                        <p:tgtEl>
                                          <p:spTgt spid="3">
                                            <p:txEl>
                                              <p:pRg st="4" end="4"/>
                                            </p:txEl>
                                          </p:spTgt>
                                        </p:tgtEl>
                                        <p:attrNameLst>
                                          <p:attrName>ppt_h</p:attrName>
                                        </p:attrNameLst>
                                      </p:cBhvr>
                                      <p:tavLst>
                                        <p:tav tm="0">
                                          <p:val>
                                            <p:fltVal val="0"/>
                                          </p:val>
                                        </p:tav>
                                        <p:tav tm="100000">
                                          <p:val>
                                            <p:strVal val="#ppt_h"/>
                                          </p:val>
                                        </p:tav>
                                      </p:tavLst>
                                    </p:anim>
                                    <p:animEffect transition="in" filter="fade">
                                      <p:cBhvr>
                                        <p:cTn id="3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rtl="1"/>
            <a:r>
              <a:rPr lang="fa-IR" dirty="0" smtClean="0">
                <a:cs typeface="B Yekan" panose="00000400000000000000" pitchFamily="2" charset="-78"/>
              </a:rPr>
              <a:t>مقایسه با نمونه های مشابه</a:t>
            </a:r>
            <a:endParaRPr lang="en-US" dirty="0">
              <a:cs typeface="B Yekan" panose="00000400000000000000" pitchFamily="2" charset="-78"/>
            </a:endParaRPr>
          </a:p>
        </p:txBody>
      </p:sp>
      <p:sp>
        <p:nvSpPr>
          <p:cNvPr id="3" name="Content Placeholder 2"/>
          <p:cNvSpPr>
            <a:spLocks noGrp="1"/>
          </p:cNvSpPr>
          <p:nvPr>
            <p:ph idx="1"/>
          </p:nvPr>
        </p:nvSpPr>
        <p:spPr/>
        <p:txBody>
          <a:bodyPr vert="horz" lIns="91440" tIns="45720" rIns="91440" bIns="45720" rtlCol="0">
            <a:normAutofit fontScale="85000" lnSpcReduction="10000"/>
          </a:bodyPr>
          <a:lstStyle/>
          <a:p>
            <a:pPr marL="0" indent="0" algn="just" rtl="1">
              <a:lnSpc>
                <a:spcPct val="150000"/>
              </a:lnSpc>
              <a:buNone/>
            </a:pPr>
            <a:r>
              <a:rPr lang="fa-IR" sz="2400" dirty="0">
                <a:cs typeface="B Nazanin" panose="00000400000000000000" pitchFamily="2" charset="-78"/>
              </a:rPr>
              <a:t>با توجه به تحقیقات انجام شده بازی ها و نمونه هایی که برای افزایش مهارت </a:t>
            </a:r>
            <a:r>
              <a:rPr lang="en-US" sz="2400" dirty="0">
                <a:cs typeface="B Nazanin" panose="00000400000000000000" pitchFamily="2" charset="-78"/>
              </a:rPr>
              <a:t>EHC</a:t>
            </a:r>
            <a:r>
              <a:rPr lang="fa-IR" sz="2400" dirty="0">
                <a:cs typeface="B Nazanin" panose="00000400000000000000" pitchFamily="2" charset="-78"/>
              </a:rPr>
              <a:t> و همینطور اندازه گیری دقت آن ساخته شده اند عبارت اند از: 1- وسیله ای که در هر لحظه به طور تصادفی چراغی روی آن روشن می شود و کاربر باید در کمترین زمان روی آن ضربه بزند و آنرا خاموش کند، 2- بازی های دستی نظیر سوزن نخ کردن، 3- بازی های رایانه ای مهیج، که در این بین بازی </a:t>
            </a:r>
            <a:r>
              <a:rPr lang="fa-IR" sz="2400" dirty="0" smtClean="0">
                <a:cs typeface="B Nazanin" panose="00000400000000000000" pitchFamily="2" charset="-78"/>
              </a:rPr>
              <a:t>نجات آب </a:t>
            </a:r>
            <a:r>
              <a:rPr lang="fa-IR" sz="2400" dirty="0">
                <a:cs typeface="B Nazanin" panose="00000400000000000000" pitchFamily="2" charset="-78"/>
              </a:rPr>
              <a:t>مزایای زیر را نسب به نمونه های مشابه خود دارد:</a:t>
            </a:r>
            <a:endParaRPr lang="en-US" sz="2400" dirty="0">
              <a:cs typeface="B Nazanin" panose="00000400000000000000" pitchFamily="2" charset="-78"/>
            </a:endParaRPr>
          </a:p>
          <a:p>
            <a:pPr marL="0" indent="0" algn="just" rtl="1">
              <a:lnSpc>
                <a:spcPct val="150000"/>
              </a:lnSpc>
              <a:buNone/>
            </a:pPr>
            <a:r>
              <a:rPr lang="fa-IR" sz="2400" dirty="0">
                <a:cs typeface="B Nazanin" panose="00000400000000000000" pitchFamily="2" charset="-78"/>
              </a:rPr>
              <a:t>1-دسترسی سریع به آن در هر لحظه و مکان به طوری که فقط نیاز به یک سیستم رایانه ای می باشد.</a:t>
            </a:r>
            <a:endParaRPr lang="en-US" sz="2400" dirty="0">
              <a:cs typeface="B Nazanin" panose="00000400000000000000" pitchFamily="2" charset="-78"/>
            </a:endParaRPr>
          </a:p>
          <a:p>
            <a:pPr marL="0" indent="0" algn="just" rtl="1">
              <a:lnSpc>
                <a:spcPct val="150000"/>
              </a:lnSpc>
              <a:buNone/>
            </a:pPr>
            <a:r>
              <a:rPr lang="fa-IR" sz="2400" dirty="0">
                <a:cs typeface="B Nazanin" panose="00000400000000000000" pitchFamily="2" charset="-78"/>
              </a:rPr>
              <a:t>2-عدم نیاز به فضای فیزیکی برای اجرا و جاگیر نبودن آن</a:t>
            </a:r>
            <a:endParaRPr lang="en-US" sz="2400" dirty="0">
              <a:cs typeface="B Nazanin" panose="00000400000000000000" pitchFamily="2" charset="-78"/>
            </a:endParaRPr>
          </a:p>
          <a:p>
            <a:pPr marL="0" indent="0" algn="just" rtl="1">
              <a:lnSpc>
                <a:spcPct val="150000"/>
              </a:lnSpc>
              <a:buNone/>
            </a:pPr>
            <a:r>
              <a:rPr lang="fa-IR" sz="2400" dirty="0">
                <a:cs typeface="B Nazanin" panose="00000400000000000000" pitchFamily="2" charset="-78"/>
              </a:rPr>
              <a:t>3-رایگان بودن </a:t>
            </a:r>
            <a:endParaRPr lang="en-US" sz="2400" dirty="0">
              <a:cs typeface="B Nazanin" panose="00000400000000000000" pitchFamily="2" charset="-78"/>
            </a:endParaRPr>
          </a:p>
          <a:p>
            <a:pPr marL="0" indent="0" algn="just" rtl="1">
              <a:lnSpc>
                <a:spcPct val="150000"/>
              </a:lnSpc>
              <a:buNone/>
            </a:pPr>
            <a:r>
              <a:rPr lang="fa-IR" sz="2400" dirty="0">
                <a:cs typeface="B Nazanin" panose="00000400000000000000" pitchFamily="2" charset="-78"/>
              </a:rPr>
              <a:t>4-بازی </a:t>
            </a:r>
            <a:r>
              <a:rPr lang="fa-IR" sz="2400" dirty="0" smtClean="0">
                <a:cs typeface="B Nazanin" panose="00000400000000000000" pitchFamily="2" charset="-78"/>
              </a:rPr>
              <a:t>نجات آب </a:t>
            </a:r>
            <a:r>
              <a:rPr lang="fa-IR" sz="2400" dirty="0">
                <a:cs typeface="B Nazanin" panose="00000400000000000000" pitchFamily="2" charset="-78"/>
              </a:rPr>
              <a:t>نسبت به بازی های رایانه ای موجود که خشونت آمیز بوده، ساده و پیاده سازی آسان دارد.</a:t>
            </a:r>
            <a:endParaRPr lang="en-US" sz="2400" dirty="0">
              <a:cs typeface="B Nazanin" panose="00000400000000000000" pitchFamily="2" charset="-78"/>
            </a:endParaRPr>
          </a:p>
          <a:p>
            <a:pPr marL="0" indent="0" algn="just" rtl="1">
              <a:lnSpc>
                <a:spcPct val="150000"/>
              </a:lnSpc>
              <a:buNone/>
            </a:pPr>
            <a:endParaRPr lang="en-US" sz="2400" dirty="0">
              <a:cs typeface="B Nazanin" panose="00000400000000000000" pitchFamily="2" charset="-78"/>
            </a:endParaRPr>
          </a:p>
        </p:txBody>
      </p:sp>
    </p:spTree>
    <p:extLst>
      <p:ext uri="{BB962C8B-B14F-4D97-AF65-F5344CB8AC3E}">
        <p14:creationId xmlns:p14="http://schemas.microsoft.com/office/powerpoint/2010/main" val="428765351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rtl="1"/>
            <a:r>
              <a:rPr lang="fa-IR" dirty="0" smtClean="0">
                <a:cs typeface="B Yekan" panose="00000400000000000000" pitchFamily="2" charset="-78"/>
              </a:rPr>
              <a:t>نوآوری های پروژه </a:t>
            </a:r>
            <a:endParaRPr lang="en-US" dirty="0">
              <a:cs typeface="B Yekan" panose="00000400000000000000" pitchFamily="2" charset="-78"/>
            </a:endParaRPr>
          </a:p>
        </p:txBody>
      </p:sp>
      <p:sp>
        <p:nvSpPr>
          <p:cNvPr id="3" name="Content Placeholder 2"/>
          <p:cNvSpPr>
            <a:spLocks noGrp="1"/>
          </p:cNvSpPr>
          <p:nvPr>
            <p:ph idx="1"/>
          </p:nvPr>
        </p:nvSpPr>
        <p:spPr/>
        <p:txBody>
          <a:bodyPr vert="horz" lIns="91440" tIns="45720" rIns="91440" bIns="45720" rtlCol="0">
            <a:normAutofit/>
          </a:bodyPr>
          <a:lstStyle/>
          <a:p>
            <a:pPr marL="0" indent="0" algn="just" rtl="1">
              <a:lnSpc>
                <a:spcPct val="150000"/>
              </a:lnSpc>
              <a:buNone/>
            </a:pPr>
            <a:r>
              <a:rPr lang="fa-IR" sz="2400" dirty="0">
                <a:cs typeface="B Nazanin" panose="00000400000000000000" pitchFamily="2" charset="-78"/>
              </a:rPr>
              <a:t>با توجه به مطالب اسلاید قبلی و مخاطبین این اثر که اغلب کودکان و نوجوانان هستند به نوآوری های زیر می توان اشاره کرد:</a:t>
            </a:r>
          </a:p>
          <a:p>
            <a:pPr algn="just" rtl="1">
              <a:lnSpc>
                <a:spcPct val="150000"/>
              </a:lnSpc>
            </a:pPr>
            <a:r>
              <a:rPr lang="fa-IR" sz="2400" dirty="0">
                <a:cs typeface="B Nazanin" panose="00000400000000000000" pitchFamily="2" charset="-78"/>
              </a:rPr>
              <a:t>پیاده سازی آسان روی سیستم عامل ویندوز</a:t>
            </a:r>
          </a:p>
          <a:p>
            <a:pPr algn="just" rtl="1">
              <a:lnSpc>
                <a:spcPct val="150000"/>
              </a:lnSpc>
            </a:pPr>
            <a:r>
              <a:rPr lang="fa-IR" sz="2400" dirty="0">
                <a:cs typeface="B Nazanin" panose="00000400000000000000" pitchFamily="2" charset="-78"/>
              </a:rPr>
              <a:t>مقرون به صرفه بودن </a:t>
            </a:r>
            <a:r>
              <a:rPr lang="fa-IR" sz="2400" dirty="0" smtClean="0">
                <a:cs typeface="B Nazanin" panose="00000400000000000000" pitchFamily="2" charset="-78"/>
              </a:rPr>
              <a:t>تمامی </a:t>
            </a:r>
            <a:r>
              <a:rPr lang="fa-IR" sz="2400" dirty="0">
                <a:cs typeface="B Nazanin" panose="00000400000000000000" pitchFamily="2" charset="-78"/>
              </a:rPr>
              <a:t>مراحل تولید بازی</a:t>
            </a:r>
          </a:p>
          <a:p>
            <a:pPr algn="just" rtl="1">
              <a:lnSpc>
                <a:spcPct val="150000"/>
              </a:lnSpc>
            </a:pPr>
            <a:r>
              <a:rPr lang="fa-IR" sz="2400" dirty="0">
                <a:cs typeface="B Nazanin" panose="00000400000000000000" pitchFamily="2" charset="-78"/>
              </a:rPr>
              <a:t>استفاده از مفهوم صرفه جویی آب در بازی</a:t>
            </a:r>
            <a:endParaRPr lang="en-US" sz="2400" dirty="0">
              <a:cs typeface="B Nazanin" panose="00000400000000000000" pitchFamily="2" charset="-78"/>
            </a:endParaRPr>
          </a:p>
        </p:txBody>
      </p:sp>
    </p:spTree>
    <p:extLst>
      <p:ext uri="{BB962C8B-B14F-4D97-AF65-F5344CB8AC3E}">
        <p14:creationId xmlns:p14="http://schemas.microsoft.com/office/powerpoint/2010/main" val="422313310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rtl="1"/>
            <a:r>
              <a:rPr lang="fa-IR" dirty="0" smtClean="0">
                <a:cs typeface="B Yekan" panose="00000400000000000000" pitchFamily="2" charset="-78"/>
              </a:rPr>
              <a:t>سناریوی بازی</a:t>
            </a:r>
            <a:endParaRPr lang="en-US" dirty="0">
              <a:cs typeface="B Yekan" panose="00000400000000000000" pitchFamily="2" charset="-78"/>
            </a:endParaRPr>
          </a:p>
        </p:txBody>
      </p:sp>
      <p:sp>
        <p:nvSpPr>
          <p:cNvPr id="3" name="Content Placeholder 2"/>
          <p:cNvSpPr>
            <a:spLocks noGrp="1"/>
          </p:cNvSpPr>
          <p:nvPr>
            <p:ph idx="1"/>
          </p:nvPr>
        </p:nvSpPr>
        <p:spPr/>
        <p:txBody>
          <a:bodyPr vert="horz" lIns="91440" tIns="45720" rIns="91440" bIns="45720" rtlCol="0">
            <a:normAutofit/>
          </a:bodyPr>
          <a:lstStyle/>
          <a:p>
            <a:pPr marL="0" indent="0" algn="just" rtl="1">
              <a:lnSpc>
                <a:spcPct val="150000"/>
              </a:lnSpc>
              <a:buNone/>
            </a:pPr>
            <a:r>
              <a:rPr lang="fa-IR" sz="2400" dirty="0">
                <a:cs typeface="B Nazanin" panose="00000400000000000000" pitchFamily="2" charset="-78"/>
              </a:rPr>
              <a:t>بعد از اجرای برنامه کاربر می بایست نام خود، سطح سختی بازی و حالت بازی (ساده یا بمبی) را انتخاب کند و دکمه شروع بازی را بزند.</a:t>
            </a:r>
          </a:p>
          <a:p>
            <a:pPr marL="0" indent="0" algn="just" rtl="1">
              <a:lnSpc>
                <a:spcPct val="150000"/>
              </a:lnSpc>
              <a:buNone/>
            </a:pPr>
            <a:r>
              <a:rPr lang="fa-IR" sz="2400" dirty="0">
                <a:cs typeface="B Nazanin" panose="00000400000000000000" pitchFamily="2" charset="-78"/>
              </a:rPr>
              <a:t>با شروع بازی و با توجه به حالت بازی می بایست بعد از چکیدن قطره آب از 9 شیر یکی از کلیدهای </a:t>
            </a:r>
            <a:r>
              <a:rPr lang="en-US" sz="2400" dirty="0">
                <a:cs typeface="B Nazanin" panose="00000400000000000000" pitchFamily="2" charset="-78"/>
              </a:rPr>
              <a:t>Q</a:t>
            </a:r>
            <a:r>
              <a:rPr lang="fa-IR" sz="2400" dirty="0">
                <a:cs typeface="B Nazanin" panose="00000400000000000000" pitchFamily="2" charset="-78"/>
              </a:rPr>
              <a:t>، </a:t>
            </a:r>
            <a:r>
              <a:rPr lang="en-US" sz="2400" dirty="0" smtClean="0">
                <a:cs typeface="B Nazanin" panose="00000400000000000000" pitchFamily="2" charset="-78"/>
              </a:rPr>
              <a:t>W</a:t>
            </a:r>
            <a:r>
              <a:rPr lang="fa-IR" sz="2400" dirty="0" smtClean="0">
                <a:cs typeface="B Nazanin" panose="00000400000000000000" pitchFamily="2" charset="-78"/>
              </a:rPr>
              <a:t>، </a:t>
            </a:r>
            <a:r>
              <a:rPr lang="en-US" sz="2400" dirty="0" smtClean="0">
                <a:cs typeface="B Nazanin" panose="00000400000000000000" pitchFamily="2" charset="-78"/>
              </a:rPr>
              <a:t>E</a:t>
            </a:r>
            <a:r>
              <a:rPr lang="fa-IR" sz="2400" dirty="0" smtClean="0">
                <a:cs typeface="B Nazanin" panose="00000400000000000000" pitchFamily="2" charset="-78"/>
              </a:rPr>
              <a:t>، </a:t>
            </a:r>
            <a:r>
              <a:rPr lang="en-US" sz="2400" dirty="0" smtClean="0">
                <a:cs typeface="B Nazanin" panose="00000400000000000000" pitchFamily="2" charset="-78"/>
              </a:rPr>
              <a:t>A</a:t>
            </a:r>
            <a:r>
              <a:rPr lang="fa-IR" sz="2400" dirty="0" smtClean="0">
                <a:cs typeface="B Nazanin" panose="00000400000000000000" pitchFamily="2" charset="-78"/>
              </a:rPr>
              <a:t>، </a:t>
            </a:r>
            <a:r>
              <a:rPr lang="en-US" sz="2400" dirty="0" smtClean="0">
                <a:cs typeface="B Nazanin" panose="00000400000000000000" pitchFamily="2" charset="-78"/>
              </a:rPr>
              <a:t>S</a:t>
            </a:r>
            <a:r>
              <a:rPr lang="fa-IR" sz="2400" dirty="0" smtClean="0">
                <a:cs typeface="B Nazanin" panose="00000400000000000000" pitchFamily="2" charset="-78"/>
              </a:rPr>
              <a:t>، </a:t>
            </a:r>
            <a:r>
              <a:rPr lang="en-US" sz="2400" dirty="0" smtClean="0">
                <a:cs typeface="B Nazanin" panose="00000400000000000000" pitchFamily="2" charset="-78"/>
              </a:rPr>
              <a:t>D</a:t>
            </a:r>
            <a:r>
              <a:rPr lang="fa-IR" sz="2400" dirty="0" smtClean="0">
                <a:cs typeface="B Nazanin" panose="00000400000000000000" pitchFamily="2" charset="-78"/>
              </a:rPr>
              <a:t>، </a:t>
            </a:r>
            <a:r>
              <a:rPr lang="en-US" sz="2400" dirty="0" smtClean="0">
                <a:cs typeface="B Nazanin" panose="00000400000000000000" pitchFamily="2" charset="-78"/>
              </a:rPr>
              <a:t>Z</a:t>
            </a:r>
            <a:r>
              <a:rPr lang="fa-IR" sz="2400" dirty="0" smtClean="0">
                <a:cs typeface="B Nazanin" panose="00000400000000000000" pitchFamily="2" charset="-78"/>
              </a:rPr>
              <a:t>، </a:t>
            </a:r>
            <a:r>
              <a:rPr lang="en-US" sz="2400" dirty="0" smtClean="0">
                <a:cs typeface="B Nazanin" panose="00000400000000000000" pitchFamily="2" charset="-78"/>
              </a:rPr>
              <a:t>X</a:t>
            </a:r>
            <a:r>
              <a:rPr lang="fa-IR" sz="2400" dirty="0" smtClean="0">
                <a:cs typeface="B Nazanin" panose="00000400000000000000" pitchFamily="2" charset="-78"/>
              </a:rPr>
              <a:t> و </a:t>
            </a:r>
            <a:r>
              <a:rPr lang="en-US" sz="2400" dirty="0" smtClean="0">
                <a:cs typeface="B Nazanin" panose="00000400000000000000" pitchFamily="2" charset="-78"/>
              </a:rPr>
              <a:t>C</a:t>
            </a:r>
            <a:r>
              <a:rPr lang="fa-IR" sz="2400" dirty="0" smtClean="0">
                <a:cs typeface="B Nazanin" panose="00000400000000000000" pitchFamily="2" charset="-78"/>
              </a:rPr>
              <a:t> یا کلیدهای عددی 1 تا 9 را از صفحه کلید با توجه به راهنمای بازی در زمان مناسب فشار دهد تا امتیاز مثبت یا منفی خود را دریافت کند.</a:t>
            </a:r>
          </a:p>
          <a:p>
            <a:pPr marL="0" indent="0" algn="just" rtl="1">
              <a:lnSpc>
                <a:spcPct val="150000"/>
              </a:lnSpc>
              <a:buNone/>
            </a:pPr>
            <a:r>
              <a:rPr lang="fa-IR" sz="2400" dirty="0" smtClean="0">
                <a:cs typeface="B Nazanin" panose="00000400000000000000" pitchFamily="2" charset="-78"/>
              </a:rPr>
              <a:t>چنانچه قطره آب به زمین برسد بازی تمام شده و گزارش عملکرد و نتایج کاربر به همراه بالاترین امتیاز آن در طول بازی های انجام داده شده توسط کاربر تاکنون نمایش داده می شود.</a:t>
            </a:r>
            <a:endParaRPr lang="fa-IR" sz="2400" dirty="0">
              <a:cs typeface="B Nazanin" panose="00000400000000000000" pitchFamily="2" charset="-78"/>
            </a:endParaRPr>
          </a:p>
          <a:p>
            <a:pPr marL="0" indent="0" algn="just" rtl="1">
              <a:lnSpc>
                <a:spcPct val="150000"/>
              </a:lnSpc>
              <a:buNone/>
            </a:pPr>
            <a:endParaRPr lang="en-US" sz="2400" dirty="0">
              <a:cs typeface="B Nazanin" panose="00000400000000000000" pitchFamily="2" charset="-78"/>
            </a:endParaRPr>
          </a:p>
        </p:txBody>
      </p:sp>
    </p:spTree>
    <p:extLst>
      <p:ext uri="{BB962C8B-B14F-4D97-AF65-F5344CB8AC3E}">
        <p14:creationId xmlns:p14="http://schemas.microsoft.com/office/powerpoint/2010/main" val="58765924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Facet</Template>
  <TotalTime>182</TotalTime>
  <Words>970</Words>
  <Application>Microsoft Office PowerPoint</Application>
  <PresentationFormat>Widescreen</PresentationFormat>
  <Paragraphs>51</Paragraphs>
  <Slides>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Arial</vt:lpstr>
      <vt:lpstr>B Nazanin</vt:lpstr>
      <vt:lpstr>B Traffic</vt:lpstr>
      <vt:lpstr>B Yekan</vt:lpstr>
      <vt:lpstr>Century Gothic</vt:lpstr>
      <vt:lpstr>Wingdings 3</vt:lpstr>
      <vt:lpstr>Ion</vt:lpstr>
      <vt:lpstr>PowerPoint Presentation</vt:lpstr>
      <vt:lpstr>فهرست مطالب</vt:lpstr>
      <vt:lpstr>نیاز سنجی</vt:lpstr>
      <vt:lpstr>طراحی و پیاده سازی</vt:lpstr>
      <vt:lpstr>تست و ارتقا</vt:lpstr>
      <vt:lpstr>معماری نرم افزار</vt:lpstr>
      <vt:lpstr>مقایسه با نمونه های مشابه</vt:lpstr>
      <vt:lpstr>نوآوری های پروژه </vt:lpstr>
      <vt:lpstr>سناریوی بازی</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sadra</dc:creator>
  <cp:lastModifiedBy>pc</cp:lastModifiedBy>
  <cp:revision>17</cp:revision>
  <dcterms:created xsi:type="dcterms:W3CDTF">2023-07-19T18:56:13Z</dcterms:created>
  <dcterms:modified xsi:type="dcterms:W3CDTF">2023-07-26T18:56:58Z</dcterms:modified>
</cp:coreProperties>
</file>